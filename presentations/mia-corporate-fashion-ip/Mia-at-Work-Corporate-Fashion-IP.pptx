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INR lakh</c:v>
                </c:pt>
              </c:strCache>
            </c:strRef>
          </c:tx>
          <c:spPr>
            <a:solidFill>
              <a:srgbClr val="3B1F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Stage, ramp, AV and lighting (5 events)</c:v>
                  </c:pt>
                  <c:pt idx="1">
                    <c:v>Influencer jury and amplifiers</c:v>
                  </c:pt>
                  <c:pt idx="2">
                    <c:v>Venue fees and permissions</c:v>
                  </c:pt>
                  <c:pt idx="3">
                    <c:v>Models, choreography, styling, hair and makeup</c:v>
                  </c:pt>
                  <c:pt idx="4">
                    <c:v>Branding, zones and production</c:v>
                  </c:pt>
                  <c:pt idx="5">
                    <c:v>Agency fee and contingency</c:v>
                  </c:pt>
                  <c:pt idx="6">
                    <c:v>Digital ads and registration tech</c:v>
                  </c:pt>
                  <c:pt idx="7">
                    <c:v>Content crew and editing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4.5</c:v>
                </c:pt>
                <c:pt idx="2">
                  <c:v>3</c:v>
                </c:pt>
                <c:pt idx="3">
                  <c:v>2.5</c:v>
                </c:pt>
                <c:pt idx="4">
                  <c:v>2</c:v>
                </c:pt>
                <c:pt idx="5">
                  <c:v>2</c:v>
                </c:pt>
                <c:pt idx="6">
                  <c:v>1.5</c:v>
                </c:pt>
                <c:pt idx="7">
                  <c:v>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A2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A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idea in one line: Mia becomes the brand that celebrates how corporate women in Bengaluru express themselves at work. Then the ask: title sponsorship of a 4-park, 8-week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white space: campuses run health camps, food fests and sports days, but nobody has built a fashion property for the women who work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B76E79">
              <a:alpha val="20000"/>
            </a:srgbClr>
          </a:solidFill>
          <a:ln w="12700">
            <a:solidFill>
              <a:srgbClr val="B76E79">
                <a:alpha val="2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MARKETING IP PROPOSAL FOR MIA BY TANISHQ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Mia at Work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Face of Fashion in Corporate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08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on-ground fashion IP across Bengaluru's IT parks, celebrating the corporate woman and her everyday style.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 ·  8-week season  ·  4 park rounds + 1 finale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under-served audience at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6878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1.5M+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8346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workers in Bengaluru IT parks and corridors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0" y="1554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6687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4320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2743200" y="28346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women in the workforce across large IT campuses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166878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days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8346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she dresses for work, where jewellery is chosen fast and worn long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49440" y="1554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166878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4944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20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28346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on-ground fashion property speaks to her at her workplace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figures are indicative and will be validated with park management during venue scouting.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IP belongs to Mia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4516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Workwear is Mia's home turf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5727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is already positioned as everyday, wearable, modern jewellery. This IP puts that promise on the woman it was designed for, at the place she wears it most.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2288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emotion, not borrowed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2350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renting a celebrity moment, Mia owns a recurring story: 'the face of fashion in corporate' is a title only Mia gives.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502920" cy="502920"/>
          </a:xfrm>
          <a:prstGeom prst="ellipse">
            <a:avLst/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0060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862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 engine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" y="31272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round produces styled looks, transformation reels and influencer judging moments, all wearing Mia.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657600"/>
            <a:ext cx="502920" cy="502920"/>
          </a:xfrm>
          <a:prstGeom prst="ellipse">
            <a:avLst/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78333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3639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next to the store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188720" y="39044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IT parks sit within minutes of Mia and Tanishq stores in Whitefield, Marathahalli, Hebbal and Koramangala.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Face of Fashion in Corporate. Crown her in Mia.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city-wide search inside IT parks. Working women register, get shortlisted by fashion influencers in a lunchtime round at their own campus, are styled and mentored, and walk a professional ramp at the season finale alongside pro models. The winner becomes the Face of Mia at Work for the season.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8229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978408"/>
            <a:ext cx="457200" cy="457200"/>
          </a:xfrm>
          <a:prstGeom prst="ellipse">
            <a:avLst/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5060" y="109270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75120" y="932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207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registration across 4 parks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17373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80760" y="1892808"/>
            <a:ext cx="457200" cy="457200"/>
          </a:xfrm>
          <a:prstGeom prst="ellipse">
            <a:avLst/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60" y="200710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7512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67512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judges pick 5 per park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43600" y="26517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0760" y="2807208"/>
            <a:ext cx="457200" cy="457200"/>
          </a:xfrm>
          <a:prstGeom prst="ellipse">
            <a:avLst/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292150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75120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675120" y="3035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Mentoring, Mia styling, look creation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943600" y="35661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80760" y="3721608"/>
            <a:ext cx="457200" cy="457200"/>
          </a:xfrm>
          <a:prstGeom prst="ellipse">
            <a:avLst/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060" y="383590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67512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675120" y="3950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 ramp, winner announced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AT A GLANCE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park rounds feed one finale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264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Park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Manyata Tech Park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640080" cy="0"/>
          </a:xfrm>
          <a:prstGeom prst="line">
            <a:avLst/>
          </a:prstGeom>
          <a:noFill/>
          <a:ln w="19050">
            <a:solidFill>
              <a:srgbClr val="B76E7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029968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084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Park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286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Embassy TechVillage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2304288"/>
            <a:ext cx="640080" cy="0"/>
          </a:xfrm>
          <a:prstGeom prst="line">
            <a:avLst/>
          </a:prstGeom>
          <a:noFill/>
          <a:ln w="19050">
            <a:solidFill>
              <a:srgbClr val="B76E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743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Park 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44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Bagmane Tech Park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2962656"/>
            <a:ext cx="640080" cy="0"/>
          </a:xfrm>
          <a:prstGeom prst="line">
            <a:avLst/>
          </a:prstGeom>
          <a:noFill/>
          <a:ln w="19050">
            <a:solidFill>
              <a:srgbClr val="B76E7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4015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Park 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02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RMZ Ecoworld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3621024"/>
            <a:ext cx="640080" cy="0"/>
          </a:xfrm>
          <a:prstGeom prst="line">
            <a:avLst/>
          </a:prstGeom>
          <a:noFill/>
          <a:ln w="19050">
            <a:solidFill>
              <a:srgbClr val="B76E7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14800" y="1371600"/>
            <a:ext cx="1920240" cy="2523744"/>
          </a:xfrm>
          <a:prstGeom prst="roundRect">
            <a:avLst>
              <a:gd name="adj" fmla="val 3810"/>
            </a:avLst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finalists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from each park, mentored over 2 weeks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633472"/>
            <a:ext cx="457200" cy="0"/>
          </a:xfrm>
          <a:prstGeom prst="line">
            <a:avLst/>
          </a:prstGeom>
          <a:noFill/>
          <a:ln w="19050">
            <a:solidFill>
              <a:srgbClr val="B76E7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675120" y="1371600"/>
            <a:ext cx="2011680" cy="2523744"/>
          </a:xfrm>
          <a:prstGeom prst="roundRect">
            <a:avLst>
              <a:gd name="adj" fmla="val 3636"/>
            </a:avLst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 Finale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19659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ramp show at the anchor park. Pro models open and close, 20 finalists walk the Mia segments, influencer jury crowns the winner.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list is a proposed shortlist. Final selection follows venue conversations in weeks 1 and 2.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 speaking 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the participant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24 to 38, working in IT, ITES, consulting and startups inside the parks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Dresses for work daily, wants to look polished without effort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 Instagram, follows fashion and workwear creators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jewellery for herself, values design and wearability over weight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the campus audience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91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on campus during lunch and evening: colleagues who cheer, try on, take photos and share. This is where reach and word of mouth come from.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Tertiary: the digital audience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154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of the influencer jury and of Mia's own handles across India, who see the finalists' journeys, styling reels and the finale.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Venue plan: four parks, one anchor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82880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Manyata Tech Park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Hebbal, North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campus, central food court plaza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Embassy TechVillage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Ring Road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amphitheatre, strong footfall at lunch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 + Finale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Bagmane Tech Park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Raman Nagar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Compact, dense, easy stage setup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RMZ Ecoworld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Bellandur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lawn, evening-friendly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280160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7830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Lunch-hour footfall of 3,000+ in a single plaza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management open to tenant engagement events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security and stage-able open area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or Tanishq store within 15 minutes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co-promote on internal channels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options: Prestige Tech Park, Cessna Business Park, Global Village Tech Park.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Eight-week season plan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25880"/>
            <a:ext cx="81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006090" y="1325880"/>
            <a:ext cx="81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817620" y="1325880"/>
            <a:ext cx="81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29150" y="1325880"/>
            <a:ext cx="81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325880"/>
            <a:ext cx="81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52210" y="1325880"/>
            <a:ext cx="81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063740" y="1325880"/>
            <a:ext cx="81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875270" y="1325880"/>
            <a:ext cx="81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tie-ups &amp; permissions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21992" y="1719072"/>
            <a:ext cx="1568196" cy="219456"/>
          </a:xfrm>
          <a:prstGeom prst="roundRect">
            <a:avLst>
              <a:gd name="adj" fmla="val 20833"/>
            </a:avLst>
          </a:prstGeom>
          <a:solidFill>
            <a:srgbClr val="6E6873"/>
          </a:solidFill>
          <a:ln w="12700">
            <a:solidFill>
              <a:srgbClr val="6E68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onboarding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21992" y="2084832"/>
            <a:ext cx="1568196" cy="219456"/>
          </a:xfrm>
          <a:prstGeom prst="roundRect">
            <a:avLst>
              <a:gd name="adj" fmla="val 20833"/>
            </a:avLst>
          </a:prstGeom>
          <a:solidFill>
            <a:srgbClr val="6E6873"/>
          </a:solidFill>
          <a:ln w="12700">
            <a:solidFill>
              <a:srgbClr val="6E68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drive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33522" y="2450592"/>
            <a:ext cx="2379726" cy="219456"/>
          </a:xfrm>
          <a:prstGeom prst="roundRect">
            <a:avLst>
              <a:gd name="adj" fmla="val 20833"/>
            </a:avLst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across 4 parks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56582" y="2816352"/>
            <a:ext cx="1568196" cy="219456"/>
          </a:xfrm>
          <a:prstGeom prst="roundRect">
            <a:avLst>
              <a:gd name="adj" fmla="val 20833"/>
            </a:avLst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&amp; styling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79642" y="3182112"/>
            <a:ext cx="1568196" cy="219456"/>
          </a:xfrm>
          <a:prstGeom prst="roundRect">
            <a:avLst>
              <a:gd name="adj" fmla="val 20833"/>
            </a:avLst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02702" y="3547872"/>
            <a:ext cx="756666" cy="219456"/>
          </a:xfrm>
          <a:prstGeom prst="roundRect">
            <a:avLst>
              <a:gd name="adj" fmla="val 20833"/>
            </a:avLst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886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PR amplification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56582" y="3913632"/>
            <a:ext cx="4002786" cy="219456"/>
          </a:xfrm>
          <a:prstGeom prst="roundRect">
            <a:avLst>
              <a:gd name="adj" fmla="val 20833"/>
            </a:avLst>
          </a:prstGeom>
          <a:solidFill>
            <a:srgbClr val="D4A373"/>
          </a:solidFill>
          <a:ln w="12700">
            <a:solidFill>
              <a:srgbClr val="D4A3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1600200"/>
            <a:ext cx="0" cy="2651760"/>
          </a:xfrm>
          <a:prstGeom prst="line">
            <a:avLst/>
          </a:prstGeom>
          <a:noFill/>
          <a:ln w="6350">
            <a:solidFill>
              <a:srgbClr val="E6DD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06090" y="1600200"/>
            <a:ext cx="0" cy="2651760"/>
          </a:xfrm>
          <a:prstGeom prst="line">
            <a:avLst/>
          </a:prstGeom>
          <a:noFill/>
          <a:ln w="6350">
            <a:solidFill>
              <a:srgbClr val="E6DD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17620" y="1600200"/>
            <a:ext cx="0" cy="2651760"/>
          </a:xfrm>
          <a:prstGeom prst="line">
            <a:avLst/>
          </a:prstGeom>
          <a:noFill/>
          <a:ln w="6350">
            <a:solidFill>
              <a:srgbClr val="E6DD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9150" y="1600200"/>
            <a:ext cx="0" cy="2651760"/>
          </a:xfrm>
          <a:prstGeom prst="line">
            <a:avLst/>
          </a:prstGeom>
          <a:noFill/>
          <a:ln w="6350">
            <a:solidFill>
              <a:srgbClr val="E6DD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0680" y="1600200"/>
            <a:ext cx="0" cy="2651760"/>
          </a:xfrm>
          <a:prstGeom prst="line">
            <a:avLst/>
          </a:prstGeom>
          <a:noFill/>
          <a:ln w="6350">
            <a:solidFill>
              <a:srgbClr val="E6DD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52210" y="1600200"/>
            <a:ext cx="0" cy="2651760"/>
          </a:xfrm>
          <a:prstGeom prst="line">
            <a:avLst/>
          </a:prstGeom>
          <a:noFill/>
          <a:ln w="6350">
            <a:solidFill>
              <a:srgbClr val="E6DD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63740" y="1600200"/>
            <a:ext cx="0" cy="2651760"/>
          </a:xfrm>
          <a:prstGeom prst="line">
            <a:avLst/>
          </a:prstGeom>
          <a:noFill/>
          <a:ln w="6350">
            <a:solidFill>
              <a:srgbClr val="E6DD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75270" y="1600200"/>
            <a:ext cx="0" cy="2651760"/>
          </a:xfrm>
          <a:prstGeom prst="line">
            <a:avLst/>
          </a:prstGeom>
          <a:noFill/>
          <a:ln w="6350">
            <a:solidFill>
              <a:srgbClr val="E6DD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0" y="1600200"/>
            <a:ext cx="0" cy="2651760"/>
          </a:xfrm>
          <a:prstGeom prst="line">
            <a:avLst/>
          </a:prstGeom>
          <a:noFill/>
          <a:ln w="6350">
            <a:solidFill>
              <a:srgbClr val="E6DD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dates: Round 1 on Thursdays and Fridays of weeks 4 and 5 at lunch. Finale on a Friday evening of week 8.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PRE-EVENT, WEEKS 2 TO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plan: filling the funnel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116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Geo-targeted Instagram and Meta ads within a 3 km radius of each park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jury announcement reels with a registration call to action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60-second registration and a photo upload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5316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7764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park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20116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Standees and elevator branding at food courts and lobbies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management emailers and tenant Slack or Teams posts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Lunch-hour 'Mia styling desk' teasers one week before each round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28016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53162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76656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0116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women's ERG partnerships in anchor tenants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mechanic: register with a colleague, both get a Mia voucher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broadcast for registrants with styling tips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1,200 registrations across four parks, 300 per park, to shortlist 40 per park for the on-ground round.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Influencers as judges and mentors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 lead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64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macro fashion creator, 500K+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38988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judge at all rounds and the finale. Announces the winner. 3 reels, 2 stories per round.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judges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578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mid-tier workwear and styling creators, 100K to 300K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30428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rotates per park round. Mentors five finalists each. Judging reels and mentoring vlogs.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micro creators, 20K to 80K, Bengaluru based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21868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rounds, create try-on and 'office fit check' content, drive registrations in their circles.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filter: creators whose audience is 60%+ women aged 24 to 38 in Bengaluru, with prior workwear or jewellery content. Shortlist shared with Mia for approval in week 1.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AND POST-EVENT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Content: three waves in one season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08760" y="1234440"/>
            <a:ext cx="548640" cy="548640"/>
          </a:xfrm>
          <a:prstGeom prst="ellipse">
            <a:avLst/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087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Weeks 2-4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 reveal and registration reels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does fashion at work mean to you' UGC prompt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teasers and countdowns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234440"/>
            <a:ext cx="548640" cy="548640"/>
          </a:xfrm>
          <a:prstGeom prst="ellipse">
            <a:avLst/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1874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 ·  Weeks 4-7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highlights per park, 48-hour turnaround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 introduction cards, 20 stories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and Mia styling transformation reels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1234440"/>
            <a:ext cx="548640" cy="548640"/>
          </a:xfrm>
          <a:prstGeom prst="ellipse">
            <a:avLst/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1874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 ·  Weeks 8-9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 live stories and after-movie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announcement and 'Face of Mia at Work' campaign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pitch to city lifestyle and business media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is shot by our crew and shared with Mia with full usage rights for the season plus 6 months.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ROUND 1, PER PARK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1 flow: a lunch-hour takeover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1389888"/>
            <a:ext cx="128016" cy="128016"/>
          </a:xfrm>
          <a:prstGeom prst="ellipse">
            <a:avLst/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1517904"/>
            <a:ext cx="0" cy="292608"/>
          </a:xfrm>
          <a:prstGeom prst="line">
            <a:avLst/>
          </a:prstGeom>
          <a:noFill/>
          <a:ln w="12700">
            <a:solidFill>
              <a:srgbClr val="E6DD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1280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2801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Mia styling zone, photo booth, registration desk live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6824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88720" y="1792224"/>
            <a:ext cx="128016" cy="128016"/>
          </a:xfrm>
          <a:prstGeom prst="ellipse">
            <a:avLst/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2728" y="1920240"/>
            <a:ext cx="0" cy="292608"/>
          </a:xfrm>
          <a:prstGeom prst="line">
            <a:avLst/>
          </a:prstGeom>
          <a:noFill/>
          <a:ln w="12700">
            <a:solidFill>
              <a:srgbClr val="E6DD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08760" y="16824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opens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16824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try-ons, styling desk, micro creators go live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848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12:45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88720" y="2194560"/>
            <a:ext cx="128016" cy="128016"/>
          </a:xfrm>
          <a:prstGeom prst="ellipse">
            <a:avLst/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2728" y="2322576"/>
            <a:ext cx="0" cy="292608"/>
          </a:xfrm>
          <a:prstGeom prst="line">
            <a:avLst/>
          </a:prstGeom>
          <a:noFill/>
          <a:ln w="12700">
            <a:solidFill>
              <a:srgbClr val="E6DD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08760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Emcee kicks off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20848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 introduction, format explained, crowd energizer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487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88720" y="2596896"/>
            <a:ext cx="128016" cy="128016"/>
          </a:xfrm>
          <a:prstGeom prst="ellipse">
            <a:avLst/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2728" y="2724912"/>
            <a:ext cx="0" cy="292608"/>
          </a:xfrm>
          <a:prstGeom prst="line">
            <a:avLst/>
          </a:prstGeom>
          <a:noFill/>
          <a:ln w="12700">
            <a:solidFill>
              <a:srgbClr val="E6DD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08760" y="2487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walk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248716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pre-shortlisted participants walk in groups of 8, jury scores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8895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13:45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88720" y="2999232"/>
            <a:ext cx="128016" cy="128016"/>
          </a:xfrm>
          <a:prstGeom prst="ellipse">
            <a:avLst/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2728" y="3127248"/>
            <a:ext cx="0" cy="292608"/>
          </a:xfrm>
          <a:prstGeom prst="line">
            <a:avLst/>
          </a:prstGeom>
          <a:noFill/>
          <a:ln w="12700">
            <a:solidFill>
              <a:srgbClr val="E6DD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08760" y="28895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showcase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291840" y="288950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 models present the Mia workwear edit, hosted by the park judge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2918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88720" y="3401568"/>
            <a:ext cx="128016" cy="128016"/>
          </a:xfrm>
          <a:prstGeom prst="ellipse">
            <a:avLst/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2728" y="3529584"/>
            <a:ext cx="0" cy="292608"/>
          </a:xfrm>
          <a:prstGeom prst="line">
            <a:avLst/>
          </a:prstGeom>
          <a:noFill/>
          <a:ln w="12700">
            <a:solidFill>
              <a:srgbClr val="E6DD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508760" y="3291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announced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32918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Finalists receive a Mia piece on stage, photo moment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36941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88720" y="3803904"/>
            <a:ext cx="128016" cy="128016"/>
          </a:xfrm>
          <a:prstGeom prst="ellipse">
            <a:avLst/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508760" y="36941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and content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291840" y="369417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 interviews, crowd try-ons continue till 15:00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criteria: confidence, styling sense, how the Mia piece is worn, and audience response. Scored 1 to 10 on each.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GRAND FINALE, WEEK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 flow: a Friday evening ramp show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533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17:30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open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try-on lounge, photo wall, welcome drinks, DJ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848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75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act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models open with the Mia signature edit, jury lead hosts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8163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18:50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807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1: Boardroom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finalists, formal workwear styled with Mia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5478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19:10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38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2: Desk to Dinner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finalists, transition looks, mentors introduce each walk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13533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19:30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 deliberation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audience vote via QR adds 20% weight, micro creators do crowd bits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20848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19:45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2075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of Fashion in Corporate announced, Mia collection gifted, sash and trophy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7432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0600" y="28163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2807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walk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finalists and models, confetti, press and content moment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4747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00600" y="35478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20:15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0" y="3538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After-party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Networking, try-ons and vouchers till 21:00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Venue: amphitheatre or central lawn at the anchor park. Capacity 600 seated plus standing.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EXPERIENCE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zones on the ground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8877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44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Styling Studio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stylists pair jewellery with what attendees are already wearing. Every look gets a photo with a Mia frame.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58877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444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of Fashion Booth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532120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Ring-light photo wall with the season branding. Instant print plus a shareable digital copy with a Mia voucher.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05181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2907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and Take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325880" y="3200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25-piece workwear edit on display. Attendees scan to reserve a piece at the nearest store with a season offer.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46320" y="29260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3051810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32120" y="2907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and lead desk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532120" y="3200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On-the-spot registrations for the next round, consented lead capture for Mia CRM.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Execution: workstreams and ownership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246888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 owns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 owns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and permissions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scouting, contracts, permissions, security, insurance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Sign-off on final park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Influencers and jury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Shortlist, contracts, briefs, content calendar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of jury and brand brief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page, ads, park promotion, shortlisting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and brand guidelines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Stage, ramp, AV, branding, zones, crew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Jewellery for styling and gifting, store offers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4, Week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and styling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Choreographer, pro models, stylists, hair and makeup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of looks and collection 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3, Week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and 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Crew, editing, 48-hour delivery, media pitching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Posting on Mia handles, press approvals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Dashboard, weekly report, post-season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sales data for the lift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Budget: a lean season under 25 lakh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₹23 lakh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GST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56032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Jewellery for styling and gifting is in kind from Mia, not in this budget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fees can drop to zero where management co-hosts as a tenant engagement event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and beverage co-sponsors can offset up to 3 lakh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7734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1,200+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5773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2336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15,000+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402336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on-ground footfall across 5 events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280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57734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1228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3M+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681228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reach via jury and creators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27432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04038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150+</a:t>
            </a:r>
            <a:endParaRPr lang="en-US" sz="26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34015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content assets delivered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46120" y="27432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429000" y="29260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3040380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02336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2600" dirty="0"/>
          </a:p>
        </p:txBody>
      </p:sp>
      <p:sp>
        <p:nvSpPr>
          <p:cNvPr id="30" name="Text 23"/>
          <p:cNvSpPr txBox="1"/>
          <p:nvPr/>
        </p:nvSpPr>
        <p:spPr>
          <a:xfrm>
            <a:off x="4023360" y="34015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leads for Mia CRM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035040" y="27432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17920" y="29260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040380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1228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2600" dirty="0"/>
          </a:p>
        </p:txBody>
      </p:sp>
      <p:sp>
        <p:nvSpPr>
          <p:cNvPr id="35" name="Text 27"/>
          <p:cNvSpPr txBox="1"/>
          <p:nvPr/>
        </p:nvSpPr>
        <p:spPr>
          <a:xfrm>
            <a:off x="6812280" y="34015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recall lift in a pre and post survey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weekly on a shared dashboard. Brand lift measured with a 300-respondent survey inside the parks before and after the season.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Mia gets as title sponsor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3B1F3A"/>
          </a:solidFill>
          <a:ln w="12700">
            <a:solidFill>
              <a:srgbClr val="3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content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naming: 'Mia at Work: Face of Fashion in Corporate'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lock-up on every asset, stage, ramp and creator post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jewellery category, no competing brand on ground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of the winner's title and campaign rights for 6 months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with usage rights across Mia's channels and stores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and future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830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and try-on zones at all 5 events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lead data and season offer redemption tracking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activation kit for 4 nearby Mia stores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option to renew for Hyderabad and Pune seasons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of first refusal on Season 2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how we handle them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at Work  ·  Proposal for Mia by Tanishq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refuses stage or crowd events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32588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backup parks per zone kept warm in week 1. Lobby-scale 'styling desk' format as fallback.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91109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registrations at a park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911096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budget reallocated by week 3 data. HR and ERG referrals switched on early. Walk-in registration on the 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4963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or weather on event day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496312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held under food court cover. Finale has a covered contingency and a 48-hour reschedule window.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81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drops out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308152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with replacement clauses. Bench of 2 alternates per tier briefed and signed.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21024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7ECEF"/>
          </a:solidFill>
          <a:ln w="12700">
            <a:solidFill>
              <a:srgbClr val="F7EC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6667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safety on stage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3666744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rubric, emcee script and content guidelines approved by Mia. No body-size or appearance commentary.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make Mia the face of fashion at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65760" cy="365760"/>
          </a:xfrm>
          <a:prstGeom prst="ellipse">
            <a:avLst/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call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scope, parks and jury direction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approval and title sponsorship agreement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65760" cy="365760"/>
          </a:xfrm>
          <a:prstGeom prst="ellipse">
            <a:avLst/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begins: venue and influencer 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B76E79"/>
          </a:solidFill>
          <a:ln w="12700">
            <a:solidFill>
              <a:srgbClr val="B76E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launch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goes live in week 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10312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4E2E4D"/>
          </a:solidFill>
          <a:ln w="12700">
            <a:solidFill>
              <a:srgbClr val="4E2E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560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sponsorship of Season 1, Bengaluru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 lakh plus GST, plus jewellery in kind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 at Work — Face of Fashion in Corporate</dc:title>
  <dc:subject>PptxGenJS Presentation</dc:subject>
  <dc:creator>Marketing IP proposal</dc:creator>
  <cp:lastModifiedBy>Marketing IP proposal</cp:lastModifiedBy>
  <cp:revision>1</cp:revision>
  <dcterms:created xsi:type="dcterms:W3CDTF">2026-09-15T18:11:29Z</dcterms:created>
  <dcterms:modified xsi:type="dcterms:W3CDTF">2026-09-15T18:11:29Z</dcterms:modified>
</cp:coreProperties>
</file>